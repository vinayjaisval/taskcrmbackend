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9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FF3"/>
    <a:srgbClr val="8C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4A213A3-10E9-421F-81BE-56E0786AB515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4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B50C-7EEE-46CD-BAF7-BBC4026D959A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11C4-AE09-4254-A5E3-6DA9B099C971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42C3-E082-4760-93B2-E209268DD00C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3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C950-F824-48B9-B984-CAEE265865E5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70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E3A0F-68E7-4D17-BB84-ED1BA4F6AC6B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7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BC4F-EDA1-4BA2-BFF3-FE5B31CCB58B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4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694C-1394-4838-A564-7380835C2E77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2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AB84B19-1A00-4EDB-8425-E1827A377364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85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ABC0-2199-478F-BA77-33A651B6CB89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2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230C6-DF61-47F4-B8C5-1B70E884BF06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9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F7FC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0076A27-8146-4F75-9851-A83577C6FD8A}" type="datetime2">
              <a:rPr lang="en-US" smtClean="0"/>
              <a:t>Thursday, August 27,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9EAB3BA-07EE-4B64-A177-47C30D775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22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5" r:id="rId1"/>
    <p:sldLayoutId id="2147484296" r:id="rId2"/>
    <p:sldLayoutId id="2147484297" r:id="rId3"/>
    <p:sldLayoutId id="2147484298" r:id="rId4"/>
    <p:sldLayoutId id="2147484299" r:id="rId5"/>
    <p:sldLayoutId id="2147484300" r:id="rId6"/>
    <p:sldLayoutId id="2147484301" r:id="rId7"/>
    <p:sldLayoutId id="2147484302" r:id="rId8"/>
    <p:sldLayoutId id="2147484303" r:id="rId9"/>
    <p:sldLayoutId id="2147484304" r:id="rId10"/>
    <p:sldLayoutId id="214748430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 userDrawn="1">
          <p15:clr>
            <a:srgbClr val="F26B43"/>
          </p15:clr>
        </p15:guide>
        <p15:guide id="2" pos="7200" userDrawn="1">
          <p15:clr>
            <a:srgbClr val="F26B43"/>
          </p15:clr>
        </p15:guide>
        <p15:guide id="3" orient="horz" pos="4008" userDrawn="1">
          <p15:clr>
            <a:srgbClr val="F26B43"/>
          </p15:clr>
        </p15:guide>
        <p15:guide id="4" orient="horz" pos="1440" userDrawn="1">
          <p15:clr>
            <a:srgbClr val="F26B43"/>
          </p15:clr>
        </p15:guide>
        <p15:guide id="5" orient="horz" pos="3720" userDrawn="1">
          <p15:clr>
            <a:srgbClr val="F26B43"/>
          </p15:clr>
        </p15:guide>
        <p15:guide id="6" orient="horz" pos="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chdaily.com/tag/stockholm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0.jpeg"/><Relationship Id="rId5" Type="http://schemas.openxmlformats.org/officeDocument/2006/relationships/image" Target="../media/image5.jpeg"/><Relationship Id="rId10" Type="http://schemas.openxmlformats.org/officeDocument/2006/relationships/image" Target="../media/image9.jpeg"/><Relationship Id="rId4" Type="http://schemas.openxmlformats.org/officeDocument/2006/relationships/image" Target="../media/image4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90s Anime Aesthetic Desktop Wallpapers posted by Zoey Peltier">
            <a:extLst>
              <a:ext uri="{FF2B5EF4-FFF2-40B4-BE49-F238E27FC236}">
                <a16:creationId xmlns:a16="http://schemas.microsoft.com/office/drawing/2014/main" id="{5AD77922-796C-4B34-8DE8-8B7158A0D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trans="63000"/>
                    </a14:imgEffect>
                    <a14:imgEffect>
                      <a14:sharpenSoften amount="-16000"/>
                    </a14:imgEffect>
                    <a14:imgEffect>
                      <a14:brightnessContrast bright="-2000" contrast="-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>
            <a:glow rad="127000">
              <a:schemeClr val="accent1">
                <a:alpha val="84000"/>
              </a:schemeClr>
            </a:glow>
            <a:outerShdw blurRad="190500" sx="99000" sy="99000" algn="tl" rotWithShape="0">
              <a:srgbClr val="000000"/>
            </a:outerShdw>
            <a:softEdge rad="12700"/>
          </a:effectLst>
          <a:scene3d>
            <a:camera prst="orthographicFront"/>
            <a:lightRig rig="chilly" dir="t"/>
          </a:scene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8C6A1AA-695C-4AB3-AC67-8270F49E3A16}"/>
              </a:ext>
            </a:extLst>
          </p:cNvPr>
          <p:cNvSpPr txBox="1"/>
          <p:nvPr/>
        </p:nvSpPr>
        <p:spPr>
          <a:xfrm>
            <a:off x="-1" y="-1"/>
            <a:ext cx="6276513" cy="2314937"/>
          </a:xfrm>
          <a:prstGeom prst="rect">
            <a:avLst/>
          </a:prstGeom>
          <a:solidFill>
            <a:srgbClr val="D9EFF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spc="3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CASE STUDIES; </a:t>
            </a:r>
            <a:br>
              <a:rPr lang="en-US" sz="3600" b="1" spc="3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3600" b="1" spc="3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 SGOTORGET KINDERGARDEN AND </a:t>
            </a:r>
            <a:br>
              <a:rPr lang="en-US" sz="3600" b="1" spc="3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3600" b="1" spc="3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JUMPSTART PRESCHOOL</a:t>
            </a:r>
            <a:endParaRPr lang="en-IN" sz="3600" b="1" spc="3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C76B52-A8F3-44EC-AB0B-AC580CBD5631}"/>
              </a:ext>
            </a:extLst>
          </p:cNvPr>
          <p:cNvSpPr txBox="1"/>
          <p:nvPr/>
        </p:nvSpPr>
        <p:spPr>
          <a:xfrm>
            <a:off x="9907929" y="5555848"/>
            <a:ext cx="2118167" cy="1200329"/>
          </a:xfrm>
          <a:prstGeom prst="rect">
            <a:avLst/>
          </a:prstGeom>
          <a:solidFill>
            <a:srgbClr val="D9EFF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EKTA DHIMAN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AND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SUPREENA DASH</a:t>
            </a:r>
            <a:endParaRPr lang="en-IN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51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jötorget Kindergarten, Stockholm. | Download Scientific Diagram">
            <a:extLst>
              <a:ext uri="{FF2B5EF4-FFF2-40B4-BE49-F238E27FC236}">
                <a16:creationId xmlns:a16="http://schemas.microsoft.com/office/drawing/2014/main" id="{2A2DD996-22CB-4945-9F1C-06232DA1A0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47"/>
          <a:stretch/>
        </p:blipFill>
        <p:spPr bwMode="auto">
          <a:xfrm>
            <a:off x="0" y="0"/>
            <a:ext cx="4282633" cy="24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jötorget Kindergarten | Rotstein Arkitekter">
            <a:extLst>
              <a:ext uri="{FF2B5EF4-FFF2-40B4-BE49-F238E27FC236}">
                <a16:creationId xmlns:a16="http://schemas.microsoft.com/office/drawing/2014/main" id="{EEB23A20-F391-4636-902D-D875BE7CE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5" t="13276"/>
          <a:stretch/>
        </p:blipFill>
        <p:spPr bwMode="auto">
          <a:xfrm>
            <a:off x="-1" y="2447851"/>
            <a:ext cx="2141318" cy="174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F2FFF06-B8BB-4C59-9D09-40CB32EC5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316" y="4665801"/>
            <a:ext cx="1619250" cy="117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jötorget Kindergarten / Rotstein Arkitekter | ArchDaily">
            <a:extLst>
              <a:ext uri="{FF2B5EF4-FFF2-40B4-BE49-F238E27FC236}">
                <a16:creationId xmlns:a16="http://schemas.microsoft.com/office/drawing/2014/main" id="{F4EBAE7C-504A-43B2-A1B5-8522D73E14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6237" r="41" b="-154"/>
          <a:stretch/>
        </p:blipFill>
        <p:spPr bwMode="auto">
          <a:xfrm>
            <a:off x="0" y="5829118"/>
            <a:ext cx="2856294" cy="102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jotorget Kindergarten by Rotstein Arkitekter | Kindergarten design,  Classroom interior, Interior design work">
            <a:extLst>
              <a:ext uri="{FF2B5EF4-FFF2-40B4-BE49-F238E27FC236}">
                <a16:creationId xmlns:a16="http://schemas.microsoft.com/office/drawing/2014/main" id="{CE41CC9F-EDD7-4B93-BF82-6B9013446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316" y="2447850"/>
            <a:ext cx="1619250" cy="221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jotorget Kindergarten by Rotstein Arkitekter | Arkitekter, Stockholm,  Barnrum">
            <a:extLst>
              <a:ext uri="{FF2B5EF4-FFF2-40B4-BE49-F238E27FC236}">
                <a16:creationId xmlns:a16="http://schemas.microsoft.com/office/drawing/2014/main" id="{F60175F2-5ECF-488A-B721-83D53BD10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25"/>
          <a:stretch/>
        </p:blipFill>
        <p:spPr bwMode="auto">
          <a:xfrm>
            <a:off x="-1" y="4190819"/>
            <a:ext cx="2141318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03D1CE-C995-47DC-A8C2-144E9B27F570}"/>
              </a:ext>
            </a:extLst>
          </p:cNvPr>
          <p:cNvSpPr txBox="1"/>
          <p:nvPr/>
        </p:nvSpPr>
        <p:spPr>
          <a:xfrm>
            <a:off x="4466670" y="1054419"/>
            <a:ext cx="78167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 err="1">
                <a:solidFill>
                  <a:srgbClr val="303030"/>
                </a:solidFill>
                <a:effectLst/>
                <a:latin typeface="Bahnschrift Condensed" panose="020B0502040204020203" pitchFamily="34" charset="0"/>
              </a:rPr>
              <a:t>Rotstein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Arkitekter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has designed a kindergarten on the ground level of a new residential block in </a:t>
            </a:r>
            <a:r>
              <a:rPr lang="en-US" sz="2400" b="0" i="0" strike="noStrike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Stockholm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.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They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envisioned a playful environment designed to encourage and inspire the creativity of the children.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endParaRPr lang="en-IN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84B99-D959-490C-987A-1BB14FE92C23}"/>
              </a:ext>
            </a:extLst>
          </p:cNvPr>
          <p:cNvSpPr txBox="1"/>
          <p:nvPr/>
        </p:nvSpPr>
        <p:spPr>
          <a:xfrm>
            <a:off x="4375230" y="3862114"/>
            <a:ext cx="78167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SOME FEATURES: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Some of the interior design budget was earmarked for solutions with architectural qualities, specific for this space.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Using built-in storage units and niches is space saving. Maximizing the room height makes a huge difference, especially when it comes to the acoustic environment. 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                                                                                                                  </a:t>
            </a:r>
            <a:r>
              <a:rPr lang="en-US" sz="2400" b="0" i="0" dirty="0" err="1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etc</a:t>
            </a: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…</a:t>
            </a:r>
            <a:endParaRPr lang="en-IN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062" name="Picture 14" descr="Sjötorget Kindergarten / Rotstein Arkitekter | ArchDaily">
            <a:extLst>
              <a:ext uri="{FF2B5EF4-FFF2-40B4-BE49-F238E27FC236}">
                <a16:creationId xmlns:a16="http://schemas.microsoft.com/office/drawing/2014/main" id="{A963F9EC-7EE0-4D4D-BB8A-0124138138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27" r="4834"/>
          <a:stretch/>
        </p:blipFill>
        <p:spPr bwMode="auto">
          <a:xfrm>
            <a:off x="2835073" y="5829117"/>
            <a:ext cx="1447560" cy="102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Sjötorget Kindergarten | Rotstein Arkitekter">
            <a:extLst>
              <a:ext uri="{FF2B5EF4-FFF2-40B4-BE49-F238E27FC236}">
                <a16:creationId xmlns:a16="http://schemas.microsoft.com/office/drawing/2014/main" id="{7F0CFE1C-4BE4-4DA0-A201-F38750AE7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069"/>
          <a:stretch/>
        </p:blipFill>
        <p:spPr bwMode="auto">
          <a:xfrm>
            <a:off x="3760566" y="2439045"/>
            <a:ext cx="522067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Sjötorget Kindergarten / Rotstein Arkitekter | ArchDaily">
            <a:extLst>
              <a:ext uri="{FF2B5EF4-FFF2-40B4-BE49-F238E27FC236}">
                <a16:creationId xmlns:a16="http://schemas.microsoft.com/office/drawing/2014/main" id="{8369A3E1-223C-40A7-A65F-7C3963A8B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6" r="63485"/>
          <a:stretch/>
        </p:blipFill>
        <p:spPr bwMode="auto">
          <a:xfrm>
            <a:off x="3760567" y="4182120"/>
            <a:ext cx="522066" cy="164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20E020B-21B9-4B0D-817D-FD85F65796B8}"/>
              </a:ext>
            </a:extLst>
          </p:cNvPr>
          <p:cNvSpPr txBox="1"/>
          <p:nvPr/>
        </p:nvSpPr>
        <p:spPr>
          <a:xfrm>
            <a:off x="4375230" y="278049"/>
            <a:ext cx="7705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THE SGOTORGET KINDERGARDEN </a:t>
            </a:r>
            <a:endParaRPr lang="en-IN" spc="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49DF48-588B-44AA-AF89-12418964CB02}"/>
              </a:ext>
            </a:extLst>
          </p:cNvPr>
          <p:cNvSpPr txBox="1"/>
          <p:nvPr/>
        </p:nvSpPr>
        <p:spPr>
          <a:xfrm>
            <a:off x="4466670" y="3025380"/>
            <a:ext cx="761357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“There is an abundance of natural light and sight lines through the building.”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is preschool in Pune opens up a whole new world of imagination for kids">
            <a:extLst>
              <a:ext uri="{FF2B5EF4-FFF2-40B4-BE49-F238E27FC236}">
                <a16:creationId xmlns:a16="http://schemas.microsoft.com/office/drawing/2014/main" id="{EE9B5ED7-11F7-4C32-BACA-6BC68F53C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325" y="0"/>
            <a:ext cx="27336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Jumpstart Aundh | International Preschool | Activity center | Pune">
            <a:extLst>
              <a:ext uri="{FF2B5EF4-FFF2-40B4-BE49-F238E27FC236}">
                <a16:creationId xmlns:a16="http://schemas.microsoft.com/office/drawing/2014/main" id="{61B2F08B-9D9E-43BA-B710-F1E75109E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918" y="5248274"/>
            <a:ext cx="2819082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Jumpstart Aundh | International Preschool | Activity center | Pune">
            <a:extLst>
              <a:ext uri="{FF2B5EF4-FFF2-40B4-BE49-F238E27FC236}">
                <a16:creationId xmlns:a16="http://schemas.microsoft.com/office/drawing/2014/main" id="{5F609347-4680-4762-BB17-26203B7801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84" r="39784"/>
          <a:stretch/>
        </p:blipFill>
        <p:spPr bwMode="auto">
          <a:xfrm>
            <a:off x="7863840" y="-66674"/>
            <a:ext cx="159448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Jumpstart International Preschool and Learning Center, Aundh - Indiabizlist">
            <a:extLst>
              <a:ext uri="{FF2B5EF4-FFF2-40B4-BE49-F238E27FC236}">
                <a16:creationId xmlns:a16="http://schemas.microsoft.com/office/drawing/2014/main" id="{F5BB2641-090B-4690-AB25-A0F49F663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840" y="5248275"/>
            <a:ext cx="285750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his preschool in Pune opens up a whole new world of imagination for kids">
            <a:extLst>
              <a:ext uri="{FF2B5EF4-FFF2-40B4-BE49-F238E27FC236}">
                <a16:creationId xmlns:a16="http://schemas.microsoft.com/office/drawing/2014/main" id="{3A0C4D8C-7382-4F3E-93E6-B4E9AD6F4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587" y="1543050"/>
            <a:ext cx="2729414" cy="370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This preschool in Pune opens up a whole new world of imagination for kids">
            <a:extLst>
              <a:ext uri="{FF2B5EF4-FFF2-40B4-BE49-F238E27FC236}">
                <a16:creationId xmlns:a16="http://schemas.microsoft.com/office/drawing/2014/main" id="{8CA4DDB3-D0F6-43BC-B816-B3A0FDD782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4"/>
          <a:stretch/>
        </p:blipFill>
        <p:spPr bwMode="auto">
          <a:xfrm>
            <a:off x="7863841" y="3228975"/>
            <a:ext cx="1590224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This preschool in Pune opens up a whole new world of imagination for kids">
            <a:extLst>
              <a:ext uri="{FF2B5EF4-FFF2-40B4-BE49-F238E27FC236}">
                <a16:creationId xmlns:a16="http://schemas.microsoft.com/office/drawing/2014/main" id="{E44340FC-1BCD-4618-ABF9-84780EA834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7" b="18695"/>
          <a:stretch/>
        </p:blipFill>
        <p:spPr bwMode="auto">
          <a:xfrm>
            <a:off x="7859578" y="1447799"/>
            <a:ext cx="1594486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9C9D98-8509-438C-9431-5BF6D7CDE3F6}"/>
              </a:ext>
            </a:extLst>
          </p:cNvPr>
          <p:cNvSpPr txBox="1"/>
          <p:nvPr/>
        </p:nvSpPr>
        <p:spPr>
          <a:xfrm>
            <a:off x="2131" y="281672"/>
            <a:ext cx="7859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THE JUMPSTART PRESCHOOL</a:t>
            </a:r>
            <a:endParaRPr lang="en-IN" spc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69E5C-69B9-4D52-99A7-B7AE4DCFD123}"/>
              </a:ext>
            </a:extLst>
          </p:cNvPr>
          <p:cNvSpPr txBox="1"/>
          <p:nvPr/>
        </p:nvSpPr>
        <p:spPr>
          <a:xfrm>
            <a:off x="121920" y="928003"/>
            <a:ext cx="7616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Jumpstart, designed by Manifestation Design LLP uses 90’s nostalgia to create a happy space for interaction, fun and learning. </a:t>
            </a: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b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Other ‘old school’ elements like slates, boards and a call bell are peppered throughout the décor for added effect.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A1B7EF-2184-4173-9E8C-C16BB6649E0B}"/>
              </a:ext>
            </a:extLst>
          </p:cNvPr>
          <p:cNvSpPr txBox="1"/>
          <p:nvPr/>
        </p:nvSpPr>
        <p:spPr>
          <a:xfrm>
            <a:off x="121920" y="1930008"/>
            <a:ext cx="6214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 </a:t>
            </a:r>
            <a:endParaRPr lang="en-IN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5201-84BC-4E34-AACA-B90490116B5A}"/>
              </a:ext>
            </a:extLst>
          </p:cNvPr>
          <p:cNvSpPr txBox="1"/>
          <p:nvPr/>
        </p:nvSpPr>
        <p:spPr>
          <a:xfrm>
            <a:off x="121920" y="2992840"/>
            <a:ext cx="761624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“The space had to be designed in a way which would seem welcoming to the parents coming to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enrolL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their kids as well as visually appealing to their tiny tots—a clever union of the old and new,” 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54E3F-0217-4184-A824-5DE6F6CDBAE9}"/>
              </a:ext>
            </a:extLst>
          </p:cNvPr>
          <p:cNvSpPr txBox="1"/>
          <p:nvPr/>
        </p:nvSpPr>
        <p:spPr>
          <a:xfrm>
            <a:off x="121920" y="4256543"/>
            <a:ext cx="7616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SOME FEATURES: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A cozy waiting lobby separates the director’s cabin from the Lego-inspired set-up along with an amphitheater is a storage space that also doubles up as a playful area for kids. The area is used for children's’ recreation, staff training, movie screening, special classes as well as social gatherings.                                                 </a:t>
            </a:r>
            <a:b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</a:br>
            <a:r>
              <a:rPr lang="en-US" sz="2400" b="0" i="0" dirty="0">
                <a:solidFill>
                  <a:srgbClr val="002060"/>
                </a:solidFill>
                <a:effectLst/>
                <a:latin typeface="Bahnschrift Condensed" panose="020B0502040204020203" pitchFamily="34" charset="0"/>
              </a:rPr>
              <a:t>                                                                                                              etc..</a:t>
            </a:r>
            <a:endParaRPr lang="en-IN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838029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79</TotalTime>
  <Words>290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Bahnschrift Condensed</vt:lpstr>
      <vt:lpstr>Calibri Light</vt:lpstr>
      <vt:lpstr>Metropolitan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Supreena Dash</dc:creator>
  <cp:lastModifiedBy>Supreena Dash</cp:lastModifiedBy>
  <cp:revision>9</cp:revision>
  <dcterms:created xsi:type="dcterms:W3CDTF">2020-08-27T14:20:12Z</dcterms:created>
  <dcterms:modified xsi:type="dcterms:W3CDTF">2020-08-27T15:40:31Z</dcterms:modified>
</cp:coreProperties>
</file>